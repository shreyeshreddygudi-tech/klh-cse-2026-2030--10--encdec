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73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538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·  DEPARTMENT OF CSE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22960"/>
            <a:ext cx="4206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And Simulation Of Data Encryption &amp; Decryption Unit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9456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simulation of a purely combinational, gate-level symmetric-key cipher in Logisim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846320" y="502920"/>
            <a:ext cx="3886200" cy="2441448"/>
          </a:xfrm>
          <a:prstGeom prst="roundRect">
            <a:avLst>
              <a:gd name="adj" fmla="val 3745"/>
            </a:avLst>
          </a:prstGeom>
          <a:solidFill>
            <a:srgbClr val="173240"/>
          </a:solidFill>
          <a:ln w="12700">
            <a:solidFill>
              <a:srgbClr val="173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img/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594360"/>
            <a:ext cx="3703320" cy="227137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1546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57200" y="3429000"/>
            <a:ext cx="1947672" cy="749808"/>
          </a:xfrm>
          <a:prstGeom prst="roundRect">
            <a:avLst>
              <a:gd name="adj" fmla="val 9756"/>
            </a:avLst>
          </a:prstGeom>
          <a:solidFill>
            <a:srgbClr val="173240"/>
          </a:solidFill>
          <a:ln w="12700">
            <a:solidFill>
              <a:srgbClr val="173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594360" y="35021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Shreyesh Reddy Gudi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3913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C4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2620030608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551176" y="3429000"/>
            <a:ext cx="1947672" cy="749808"/>
          </a:xfrm>
          <a:prstGeom prst="roundRect">
            <a:avLst>
              <a:gd name="adj" fmla="val 9756"/>
            </a:avLst>
          </a:prstGeom>
          <a:solidFill>
            <a:srgbClr val="173240"/>
          </a:solidFill>
          <a:ln w="12700">
            <a:solidFill>
              <a:srgbClr val="173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2688336" y="35021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Kaustubha Srinivas Kaseebhotla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2688336" y="3913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C4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2620030601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645152" y="3429000"/>
            <a:ext cx="1947672" cy="749808"/>
          </a:xfrm>
          <a:prstGeom prst="roundRect">
            <a:avLst>
              <a:gd name="adj" fmla="val 9756"/>
            </a:avLst>
          </a:prstGeom>
          <a:solidFill>
            <a:srgbClr val="173240"/>
          </a:solidFill>
          <a:ln w="12700">
            <a:solidFill>
              <a:srgbClr val="173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 txBox="1"/>
          <p:nvPr/>
        </p:nvSpPr>
        <p:spPr>
          <a:xfrm>
            <a:off x="4782312" y="35021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Rachuri Harshita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782312" y="3913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C4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2620030654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739128" y="3429000"/>
            <a:ext cx="1947672" cy="749808"/>
          </a:xfrm>
          <a:prstGeom prst="roundRect">
            <a:avLst>
              <a:gd name="adj" fmla="val 9756"/>
            </a:avLst>
          </a:prstGeom>
          <a:solidFill>
            <a:srgbClr val="173240"/>
          </a:solidFill>
          <a:ln w="12700">
            <a:solidFill>
              <a:srgbClr val="173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6876288" y="35021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Rudrakashala Harshitha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6876288" y="391363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A9C4B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2620030591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Kartheek</a:t>
            </a:r>
            <a:r>
              <a:rPr lang="en-US" sz="1100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B.Tech CSE · Batch-10 · AY 2026–2030   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University, Hyderabad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457200" cy="457200"/>
          </a:xfrm>
          <a:prstGeom prst="ellipse">
            <a:avLst/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1261872"/>
            <a:ext cx="219456" cy="21945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097280" y="11247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097280" y="14173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Cryptography secures digital data. XOR is a fundamental building block of many ciphers because it is perfectly reversible.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286000"/>
            <a:ext cx="457200" cy="457200"/>
          </a:xfrm>
          <a:prstGeom prst="ellipse">
            <a:avLst/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2404872"/>
            <a:ext cx="219456" cy="2194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097280" y="22677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097280" y="25603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Logic Design &amp; Data Security — bitwise encryption and decryption implemented at the gate level and simulated in Logisim.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" y="3547872"/>
            <a:ext cx="219456" cy="2194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97280" y="341071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8" name="Text 12"/>
          <p:cNvSpPr txBox="1"/>
          <p:nvPr/>
        </p:nvSpPr>
        <p:spPr>
          <a:xfrm>
            <a:off x="1097280" y="37033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Hardware-level encryption underpins secure embedded systems and the foundations of stream ciphers — turning Boolean algebra into a working circuit.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5760720" y="1097280"/>
            <a:ext cx="2926080" cy="3474720"/>
          </a:xfrm>
          <a:prstGeom prst="roundRect">
            <a:avLst>
              <a:gd name="adj" fmla="val 2500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4"/>
          <p:cNvSpPr txBox="1"/>
          <p:nvPr/>
        </p:nvSpPr>
        <p:spPr>
          <a:xfrm>
            <a:off x="5989320" y="128016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ELEMENT</a:t>
            </a:r>
            <a:endParaRPr lang="en-US" sz="950" dirty="0"/>
          </a:p>
        </p:txBody>
      </p:sp>
      <p:sp>
        <p:nvSpPr>
          <p:cNvPr id="21" name="Text 15"/>
          <p:cNvSpPr txBox="1"/>
          <p:nvPr/>
        </p:nvSpPr>
        <p:spPr>
          <a:xfrm>
            <a:off x="5989320" y="14996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XOR gate  ( ⊕ )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5989320" y="2103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TYPE</a:t>
            </a:r>
            <a:endParaRPr lang="en-US" sz="950" dirty="0"/>
          </a:p>
        </p:txBody>
      </p:sp>
      <p:sp>
        <p:nvSpPr>
          <p:cNvPr id="23" name="Text 17"/>
          <p:cNvSpPr txBox="1"/>
          <p:nvPr/>
        </p:nvSpPr>
        <p:spPr>
          <a:xfrm>
            <a:off x="5989320" y="232257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Purely combinational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(no clock, no memory)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989320" y="29260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WIDTH</a:t>
            </a:r>
            <a:endParaRPr lang="en-US" sz="950" dirty="0"/>
          </a:p>
        </p:txBody>
      </p:sp>
      <p:sp>
        <p:nvSpPr>
          <p:cNvPr id="25" name="Text 19"/>
          <p:cNvSpPr txBox="1"/>
          <p:nvPr/>
        </p:nvSpPr>
        <p:spPr>
          <a:xfrm>
            <a:off x="5989320" y="314553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4-bit plaintext + 4-bit key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5989320" y="37490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950" dirty="0"/>
          </a:p>
        </p:txBody>
      </p:sp>
      <p:sp>
        <p:nvSpPr>
          <p:cNvPr id="27" name="Text 21"/>
          <p:cNvSpPr txBox="1"/>
          <p:nvPr/>
        </p:nvSpPr>
        <p:spPr>
          <a:xfrm>
            <a:off x="5989320" y="39684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Logisim simulation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731520" y="118872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need:  </a:t>
            </a:r>
            <a:r>
              <a:rPr lang="en-US" sz="1450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simple, educational hardware implementation of symmetric encryption — the same key to encrypt and decrypt — built only from basic logic components, without complex algorithms or software libraries.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377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EXISTING APPROACHES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2697480"/>
            <a:ext cx="2560320" cy="1874520"/>
          </a:xfrm>
          <a:prstGeom prst="roundRect">
            <a:avLst>
              <a:gd name="adj" fmla="val 3902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85800" y="2880360"/>
            <a:ext cx="457200" cy="457200"/>
          </a:xfrm>
          <a:prstGeom prst="ellipse">
            <a:avLst/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9992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580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Software-only demos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685800" y="376732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Hide gate-level hardware behaviour behind code and libraries.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3291840" y="2697480"/>
            <a:ext cx="2560320" cy="1874520"/>
          </a:xfrm>
          <a:prstGeom prst="roundRect">
            <a:avLst>
              <a:gd name="adj" fmla="val 3902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3520440" y="2880360"/>
            <a:ext cx="457200" cy="457200"/>
          </a:xfrm>
          <a:prstGeom prst="ellipse">
            <a:avLst/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9312" y="299923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52044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ciphers (AES, DES)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3520440" y="376732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too complex to design, wire and explain within an undergraduate lab.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126480" y="2697480"/>
            <a:ext cx="2560320" cy="1874520"/>
          </a:xfrm>
          <a:prstGeom prst="roundRect">
            <a:avLst>
              <a:gd name="adj" fmla="val 3902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355080" y="2880360"/>
            <a:ext cx="457200" cy="457200"/>
          </a:xfrm>
          <a:prstGeom prst="ellipse">
            <a:avLst/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299923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355080" y="34747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 student circuits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6355080" y="376732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physical security or encryption alone — no reversible decryption or verification logic.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 / Existing Systems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14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328416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Approach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works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 XOR ciphers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XOR applied in program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to write, but offers no hardware insight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ciphers (AES, DES, Blowfish)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multi-round algorithms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gate count; not feasible to hand-wire in a lab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LFSR stream ciphers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Shift registers generate a pseudo-random key-stream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flip-flops, memory and a clock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Access-control projects (RFID / keypad)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an entered code with a stored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 physical entry only — the data stays unprotected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E1B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gate demos (AND / OR / NOT)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Illustrate individual gate behaviour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D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 show reversible crypto; no verification 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A4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XOR gates + comparators, purely combinational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A45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Reversible, self-verifying and lab-friendly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A45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14300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21792" y="1280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2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18745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21792" y="221284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4-bit XOR encryptor: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621792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P ⊕ K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130552" y="114300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2295144" y="1280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2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2295144" y="18745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2295144" y="221284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the plaintext with the same key: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2295144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C ⊕ K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803904" y="114300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 txBox="1"/>
          <p:nvPr/>
        </p:nvSpPr>
        <p:spPr>
          <a:xfrm>
            <a:off x="3968496" y="1280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2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6"/>
          <p:cNvSpPr txBox="1"/>
          <p:nvPr/>
        </p:nvSpPr>
        <p:spPr>
          <a:xfrm>
            <a:off x="3968496" y="18745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3968496" y="221284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Comparators confirm the output automatically: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3968496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== P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77256" y="114300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0"/>
          <p:cNvSpPr txBox="1"/>
          <p:nvPr/>
        </p:nvSpPr>
        <p:spPr>
          <a:xfrm>
            <a:off x="5641848" y="1280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2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Text 21"/>
          <p:cNvSpPr txBox="1"/>
          <p:nvPr/>
        </p:nvSpPr>
        <p:spPr>
          <a:xfrm>
            <a:off x="5641848" y="18745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5641848" y="221284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test the complete circuit in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641848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7150608" y="1143000"/>
            <a:ext cx="1517904" cy="2514600"/>
          </a:xfrm>
          <a:prstGeom prst="roundRect">
            <a:avLst>
              <a:gd name="adj" fmla="val 4819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5"/>
          <p:cNvSpPr txBox="1"/>
          <p:nvPr/>
        </p:nvSpPr>
        <p:spPr>
          <a:xfrm>
            <a:off x="7315200" y="12801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22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9" name="Text 26"/>
          <p:cNvSpPr txBox="1"/>
          <p:nvPr/>
        </p:nvSpPr>
        <p:spPr>
          <a:xfrm>
            <a:off x="7315200" y="187452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7315200" y="2212848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with truth tables for</a:t>
            </a:r>
            <a:endParaRPr lang="en-US" sz="1150" dirty="0"/>
          </a:p>
        </p:txBody>
      </p:sp>
      <p:sp>
        <p:nvSpPr>
          <p:cNvPr id="31" name="Text 28"/>
          <p:cNvSpPr txBox="1"/>
          <p:nvPr/>
        </p:nvSpPr>
        <p:spPr>
          <a:xfrm>
            <a:off x="7315200" y="29260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&amp; 4-bit cases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57200" y="388620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DF1DE"/>
          </a:solidFill>
          <a:ln w="12700">
            <a:solidFill>
              <a:srgbClr val="FDF1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0"/>
          <p:cNvSpPr txBox="1"/>
          <p:nvPr/>
        </p:nvSpPr>
        <p:spPr>
          <a:xfrm>
            <a:off x="685800" y="3886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0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constraint:  </a:t>
            </a:r>
            <a:r>
              <a:rPr lang="en-US" sz="1300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and comparators only — no encoders, decoders or memory elements.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731520" y="13258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IDENTITY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17373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 ⊕ K) ⊕ K = P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2560320"/>
            <a:ext cx="2788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is its own inverse, so one shared key both encrypts and decrypts — with perfect recovery of the original plaintext.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374904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4-bit symmetric encryption–decryption system built from XOR gates and comparators.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023360" y="1097280"/>
            <a:ext cx="2286000" cy="1691640"/>
          </a:xfrm>
          <a:prstGeom prst="roundRect">
            <a:avLst>
              <a:gd name="adj" fmla="val 4324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4206240" y="1280160"/>
            <a:ext cx="420624" cy="420624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5602" y="1389522"/>
            <a:ext cx="201900" cy="2019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206240" y="18105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combinational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4206240" y="21031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single-bit XOR gates — no clock and no memory anywhere.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400800" y="1097280"/>
            <a:ext cx="2286000" cy="1691640"/>
          </a:xfrm>
          <a:prstGeom prst="roundRect">
            <a:avLst>
              <a:gd name="adj" fmla="val 4324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6583680" y="1280160"/>
            <a:ext cx="420624" cy="420624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042" y="1389522"/>
            <a:ext cx="201900" cy="2019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583680" y="181051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key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6583680" y="210312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key lines drive both the encryption and decryption stages.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023360" y="2880360"/>
            <a:ext cx="2286000" cy="1691640"/>
          </a:xfrm>
          <a:prstGeom prst="roundRect">
            <a:avLst>
              <a:gd name="adj" fmla="val 4324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8"/>
          <p:cNvSpPr/>
          <p:nvPr/>
        </p:nvSpPr>
        <p:spPr>
          <a:xfrm>
            <a:off x="4206240" y="3063240"/>
            <a:ext cx="420624" cy="420624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602" y="3172602"/>
            <a:ext cx="201900" cy="20190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206240" y="35935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self-check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4206240" y="3886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Comparators confirm Decrypted == Plaintext for every test vector.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00800" y="2880360"/>
            <a:ext cx="2286000" cy="1691640"/>
          </a:xfrm>
          <a:prstGeom prst="roundRect">
            <a:avLst>
              <a:gd name="adj" fmla="val 4324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6583680" y="3063240"/>
            <a:ext cx="420624" cy="420624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042" y="3172602"/>
            <a:ext cx="201900" cy="2019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583680" y="359359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&amp; scalable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6583680" y="38862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Bit-level stages C0–C3 and D0–D3; extendable to 8/16-bit designs.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23444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5DE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457200" y="1399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7099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P3 – P0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1828800" y="1691640"/>
            <a:ext cx="310896" cy="0"/>
          </a:xfrm>
          <a:prstGeom prst="line">
            <a:avLst/>
          </a:prstGeom>
          <a:noFill/>
          <a:ln w="22225">
            <a:solidFill>
              <a:srgbClr val="5B6B7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2185416" y="123444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 txBox="1"/>
          <p:nvPr/>
        </p:nvSpPr>
        <p:spPr>
          <a:xfrm>
            <a:off x="2185416" y="1399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ENCRYPT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2185416" y="17099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= P ⊕ K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557016" y="1691640"/>
            <a:ext cx="310896" cy="0"/>
          </a:xfrm>
          <a:prstGeom prst="line">
            <a:avLst/>
          </a:prstGeom>
          <a:noFill/>
          <a:ln w="22225">
            <a:solidFill>
              <a:srgbClr val="5B6B7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913632" y="123444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5DE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 txBox="1"/>
          <p:nvPr/>
        </p:nvSpPr>
        <p:spPr>
          <a:xfrm>
            <a:off x="3913632" y="1399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913632" y="17099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 – C0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285232" y="1691640"/>
            <a:ext cx="310896" cy="0"/>
          </a:xfrm>
          <a:prstGeom prst="line">
            <a:avLst/>
          </a:prstGeom>
          <a:noFill/>
          <a:ln w="22225">
            <a:solidFill>
              <a:srgbClr val="5B6B7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6"/>
          <p:cNvSpPr/>
          <p:nvPr/>
        </p:nvSpPr>
        <p:spPr>
          <a:xfrm>
            <a:off x="5641848" y="123444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 txBox="1"/>
          <p:nvPr/>
        </p:nvSpPr>
        <p:spPr>
          <a:xfrm>
            <a:off x="5641848" y="1399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DECRYPT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641848" y="17099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= C ⊕ K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7013448" y="1691640"/>
            <a:ext cx="310896" cy="0"/>
          </a:xfrm>
          <a:prstGeom prst="line">
            <a:avLst/>
          </a:prstGeom>
          <a:noFill/>
          <a:ln w="22225">
            <a:solidFill>
              <a:srgbClr val="5B6B7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0"/>
          <p:cNvSpPr/>
          <p:nvPr/>
        </p:nvSpPr>
        <p:spPr>
          <a:xfrm>
            <a:off x="7370064" y="1234440"/>
            <a:ext cx="1325880" cy="914400"/>
          </a:xfrm>
          <a:prstGeom prst="roundRect">
            <a:avLst>
              <a:gd name="adj" fmla="val 8000"/>
            </a:avLst>
          </a:prstGeom>
          <a:solidFill>
            <a:srgbClr val="F3F6F5"/>
          </a:solidFill>
          <a:ln w="12700">
            <a:solidFill>
              <a:srgbClr val="D5DE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1"/>
          <p:cNvSpPr txBox="1"/>
          <p:nvPr/>
        </p:nvSpPr>
        <p:spPr>
          <a:xfrm>
            <a:off x="7370064" y="139903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DECRYPTED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7370064" y="170992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D3 – D0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913632" y="274320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4"/>
          <p:cNvSpPr txBox="1"/>
          <p:nvPr/>
        </p:nvSpPr>
        <p:spPr>
          <a:xfrm>
            <a:off x="3913632" y="27432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 K3 – K0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4576572" y="2487168"/>
            <a:ext cx="0" cy="256032"/>
          </a:xfrm>
          <a:prstGeom prst="line">
            <a:avLst/>
          </a:prstGeom>
          <a:noFill/>
          <a:ln w="22225">
            <a:solidFill>
              <a:srgbClr val="E89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6"/>
          <p:cNvSpPr/>
          <p:nvPr/>
        </p:nvSpPr>
        <p:spPr>
          <a:xfrm>
            <a:off x="2848356" y="2487168"/>
            <a:ext cx="3456432" cy="0"/>
          </a:xfrm>
          <a:prstGeom prst="line">
            <a:avLst/>
          </a:prstGeom>
          <a:noFill/>
          <a:ln w="22225">
            <a:solidFill>
              <a:srgbClr val="E89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7"/>
          <p:cNvSpPr/>
          <p:nvPr/>
        </p:nvSpPr>
        <p:spPr>
          <a:xfrm flipV="1">
            <a:off x="2848356" y="2194560"/>
            <a:ext cx="0" cy="292608"/>
          </a:xfrm>
          <a:prstGeom prst="line">
            <a:avLst/>
          </a:prstGeom>
          <a:noFill/>
          <a:ln w="22225">
            <a:solidFill>
              <a:srgbClr val="E89B2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8"/>
          <p:cNvSpPr/>
          <p:nvPr/>
        </p:nvSpPr>
        <p:spPr>
          <a:xfrm flipV="1">
            <a:off x="6304788" y="2194560"/>
            <a:ext cx="0" cy="292608"/>
          </a:xfrm>
          <a:prstGeom prst="line">
            <a:avLst/>
          </a:prstGeom>
          <a:noFill/>
          <a:ln w="22225">
            <a:solidFill>
              <a:srgbClr val="E89B2F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29"/>
          <p:cNvSpPr txBox="1"/>
          <p:nvPr/>
        </p:nvSpPr>
        <p:spPr>
          <a:xfrm>
            <a:off x="2331720" y="2560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A06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key reused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370064" y="274320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1"/>
          <p:cNvSpPr txBox="1"/>
          <p:nvPr/>
        </p:nvSpPr>
        <p:spPr>
          <a:xfrm>
            <a:off x="7370064" y="27432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= 1 if D = P</a:t>
            </a:r>
            <a:endParaRPr lang="en-US" sz="1050" dirty="0"/>
          </a:p>
        </p:txBody>
      </p:sp>
      <p:sp>
        <p:nvSpPr>
          <p:cNvPr id="35" name="Shape 32"/>
          <p:cNvSpPr/>
          <p:nvPr/>
        </p:nvSpPr>
        <p:spPr>
          <a:xfrm>
            <a:off x="8033004" y="2194560"/>
            <a:ext cx="0" cy="521208"/>
          </a:xfrm>
          <a:prstGeom prst="line">
            <a:avLst/>
          </a:prstGeom>
          <a:noFill/>
          <a:ln w="22225">
            <a:solidFill>
              <a:srgbClr val="0E1B24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3"/>
          <p:cNvSpPr/>
          <p:nvPr/>
        </p:nvSpPr>
        <p:spPr>
          <a:xfrm>
            <a:off x="1120140" y="2194560"/>
            <a:ext cx="0" cy="1508760"/>
          </a:xfrm>
          <a:prstGeom prst="line">
            <a:avLst/>
          </a:prstGeom>
          <a:noFill/>
          <a:ln w="22225">
            <a:solidFill>
              <a:srgbClr val="5B6B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4"/>
          <p:cNvSpPr/>
          <p:nvPr/>
        </p:nvSpPr>
        <p:spPr>
          <a:xfrm>
            <a:off x="1120140" y="3703320"/>
            <a:ext cx="6912864" cy="0"/>
          </a:xfrm>
          <a:prstGeom prst="line">
            <a:avLst/>
          </a:prstGeom>
          <a:noFill/>
          <a:ln w="22225">
            <a:solidFill>
              <a:srgbClr val="5B6B73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5"/>
          <p:cNvSpPr/>
          <p:nvPr/>
        </p:nvSpPr>
        <p:spPr>
          <a:xfrm flipV="1">
            <a:off x="8033004" y="3410712"/>
            <a:ext cx="0" cy="292608"/>
          </a:xfrm>
          <a:prstGeom prst="line">
            <a:avLst/>
          </a:prstGeom>
          <a:noFill/>
          <a:ln w="22225">
            <a:solidFill>
              <a:srgbClr val="5B6B73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6"/>
          <p:cNvSpPr txBox="1"/>
          <p:nvPr/>
        </p:nvSpPr>
        <p:spPr>
          <a:xfrm>
            <a:off x="1280160" y="3474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plaintext (reference for verification)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457200" y="4005072"/>
            <a:ext cx="8229600" cy="566928"/>
          </a:xfrm>
          <a:prstGeom prst="roundRect">
            <a:avLst>
              <a:gd name="adj" fmla="val 12903"/>
            </a:avLst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8"/>
          <p:cNvSpPr txBox="1"/>
          <p:nvPr/>
        </p:nvSpPr>
        <p:spPr>
          <a:xfrm>
            <a:off x="685800" y="400507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4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is its own inverse  →  (P ⊕ K) ⊕ K = P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/ Implementation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1280160" y="1463040"/>
            <a:ext cx="6693408" cy="0"/>
          </a:xfrm>
          <a:prstGeom prst="line">
            <a:avLst/>
          </a:prstGeom>
          <a:noFill/>
          <a:ln w="22225">
            <a:solidFill>
              <a:srgbClr val="D5DE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5"/>
          <p:cNvSpPr/>
          <p:nvPr/>
        </p:nvSpPr>
        <p:spPr>
          <a:xfrm>
            <a:off x="1005840" y="1188720"/>
            <a:ext cx="548640" cy="548640"/>
          </a:xfrm>
          <a:prstGeom prst="ellipse">
            <a:avLst/>
          </a:prstGeom>
          <a:solidFill>
            <a:srgbClr val="22A45D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 txBox="1"/>
          <p:nvPr/>
        </p:nvSpPr>
        <p:spPr>
          <a:xfrm>
            <a:off x="10058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inputs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30352" y="219456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Pins P0–P3 (plaintext) and K0–K3 (key)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79192" y="1188720"/>
            <a:ext cx="548640" cy="548640"/>
          </a:xfrm>
          <a:prstGeom prst="ellipse">
            <a:avLst/>
          </a:prstGeom>
          <a:solidFill>
            <a:srgbClr val="22A45D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 txBox="1"/>
          <p:nvPr/>
        </p:nvSpPr>
        <p:spPr>
          <a:xfrm>
            <a:off x="2679192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2130552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2203704" y="219456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XOR gates: C0 = P0⊕K0 … C3 = P3⊕K3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52544" y="1188720"/>
            <a:ext cx="548640" cy="548640"/>
          </a:xfrm>
          <a:prstGeom prst="ellipse">
            <a:avLst/>
          </a:prstGeom>
          <a:solidFill>
            <a:srgbClr val="22A45D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4352544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3803904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</a:t>
            </a:r>
            <a:endParaRPr lang="en-US" sz="1350" dirty="0"/>
          </a:p>
        </p:txBody>
      </p:sp>
      <p:sp>
        <p:nvSpPr>
          <p:cNvPr id="19" name="Text 16"/>
          <p:cNvSpPr txBox="1"/>
          <p:nvPr/>
        </p:nvSpPr>
        <p:spPr>
          <a:xfrm>
            <a:off x="3877056" y="219456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more XOR gates reuse the same key lines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025896" y="1188720"/>
            <a:ext cx="548640" cy="548640"/>
          </a:xfrm>
          <a:prstGeom prst="ellipse">
            <a:avLst/>
          </a:prstGeom>
          <a:solidFill>
            <a:srgbClr val="22A45D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8"/>
          <p:cNvSpPr txBox="1"/>
          <p:nvPr/>
        </p:nvSpPr>
        <p:spPr>
          <a:xfrm>
            <a:off x="6025896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477256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5550408" y="219456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Comparators check each decrypted bit against its plaintext bit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699248" y="1188720"/>
            <a:ext cx="548640" cy="548640"/>
          </a:xfrm>
          <a:prstGeom prst="ellipse">
            <a:avLst/>
          </a:prstGeom>
          <a:solidFill>
            <a:srgbClr val="0E1B24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2"/>
          <p:cNvSpPr txBox="1"/>
          <p:nvPr/>
        </p:nvSpPr>
        <p:spPr>
          <a:xfrm>
            <a:off x="7699248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7150608" y="1874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</a:t>
            </a:r>
            <a:endParaRPr lang="en-US" sz="1350" dirty="0"/>
          </a:p>
        </p:txBody>
      </p:sp>
      <p:sp>
        <p:nvSpPr>
          <p:cNvPr id="27" name="Text 24"/>
          <p:cNvSpPr txBox="1"/>
          <p:nvPr/>
        </p:nvSpPr>
        <p:spPr>
          <a:xfrm>
            <a:off x="7223760" y="219456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Poke P and K live; D always equals P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57200" y="310896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6"/>
          <p:cNvSpPr txBox="1"/>
          <p:nvPr/>
        </p:nvSpPr>
        <p:spPr>
          <a:xfrm>
            <a:off x="731520" y="321868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LOGIC EQUATIONS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73152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P</a:t>
            </a: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⊕ K</a:t>
            </a: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338328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C</a:t>
            </a: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⊕ K</a:t>
            </a: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P</a:t>
            </a: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endParaRPr lang="en-US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6035040" y="35204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</a:t>
            </a: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(D</a:t>
            </a: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== P</a:t>
            </a:r>
            <a:r>
              <a:rPr lang="en-US" sz="1500" b="1" baseline="-40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</a:t>
            </a: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500" dirty="0"/>
          </a:p>
        </p:txBody>
      </p:sp>
      <p:sp>
        <p:nvSpPr>
          <p:cNvPr id="33" name="Shape 30"/>
          <p:cNvSpPr/>
          <p:nvPr/>
        </p:nvSpPr>
        <p:spPr>
          <a:xfrm>
            <a:off x="457200" y="4251960"/>
            <a:ext cx="329184" cy="329184"/>
          </a:xfrm>
          <a:prstGeom prst="ellipse">
            <a:avLst/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788" y="4337548"/>
            <a:ext cx="158008" cy="158008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914400" y="425196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 </a:t>
            </a: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Logisim — Wiring, Gates and Arithmetic libraries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Logisim Implementation — Complete Circuit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02336" y="1362456"/>
            <a:ext cx="5321808" cy="3306470"/>
          </a:xfrm>
          <a:prstGeom prst="roundRect">
            <a:avLst>
              <a:gd name="adj" fmla="val 1659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8" name="Image 1" descr="/home/claude/img/c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417320"/>
            <a:ext cx="5212080" cy="319674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57200" y="105156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6"/>
          <p:cNvSpPr txBox="1"/>
          <p:nvPr/>
        </p:nvSpPr>
        <p:spPr>
          <a:xfrm>
            <a:off x="457200" y="10515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1837030" y="105156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 txBox="1"/>
          <p:nvPr/>
        </p:nvSpPr>
        <p:spPr>
          <a:xfrm>
            <a:off x="1837030" y="1051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 C0–C3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3400654" y="1051560"/>
            <a:ext cx="1097280" cy="256032"/>
          </a:xfrm>
          <a:prstGeom prst="roundRect">
            <a:avLst>
              <a:gd name="adj" fmla="val 21429"/>
            </a:avLst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 txBox="1"/>
          <p:nvPr/>
        </p:nvSpPr>
        <p:spPr>
          <a:xfrm>
            <a:off x="3400654" y="10515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 D0–D3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937760" y="1051560"/>
            <a:ext cx="731520" cy="256032"/>
          </a:xfrm>
          <a:prstGeom prst="roundRect">
            <a:avLst>
              <a:gd name="adj" fmla="val 21429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 txBox="1"/>
          <p:nvPr/>
        </p:nvSpPr>
        <p:spPr>
          <a:xfrm>
            <a:off x="4937760" y="10515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400800" y="105156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 txBox="1"/>
          <p:nvPr/>
        </p:nvSpPr>
        <p:spPr>
          <a:xfrm>
            <a:off x="6537960" y="105156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19" name="Text 15"/>
          <p:cNvSpPr txBox="1"/>
          <p:nvPr/>
        </p:nvSpPr>
        <p:spPr>
          <a:xfrm>
            <a:off x="7223760" y="11704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pins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7223760" y="144475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plaintext + 4 key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400800" y="1938528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8"/>
          <p:cNvSpPr txBox="1"/>
          <p:nvPr/>
        </p:nvSpPr>
        <p:spPr>
          <a:xfrm>
            <a:off x="6537960" y="193852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23" name="Text 19"/>
          <p:cNvSpPr txBox="1"/>
          <p:nvPr/>
        </p:nvSpPr>
        <p:spPr>
          <a:xfrm>
            <a:off x="7223760" y="205740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gates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7223760" y="23317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encrypt + 4 decrypt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6400800" y="2825496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 txBox="1"/>
          <p:nvPr/>
        </p:nvSpPr>
        <p:spPr>
          <a:xfrm>
            <a:off x="6537960" y="2825496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89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7" name="Text 23"/>
          <p:cNvSpPr txBox="1"/>
          <p:nvPr/>
        </p:nvSpPr>
        <p:spPr>
          <a:xfrm>
            <a:off x="7223760" y="294436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comparators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7223760" y="32186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bit: D vs P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6400800" y="3712464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 txBox="1"/>
          <p:nvPr/>
        </p:nvSpPr>
        <p:spPr>
          <a:xfrm>
            <a:off x="6537960" y="371246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000" dirty="0"/>
          </a:p>
        </p:txBody>
      </p:sp>
      <p:sp>
        <p:nvSpPr>
          <p:cNvPr id="31" name="Text 27"/>
          <p:cNvSpPr txBox="1"/>
          <p:nvPr/>
        </p:nvSpPr>
        <p:spPr>
          <a:xfrm>
            <a:off x="7223760" y="383133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flip-flops</a:t>
            </a:r>
            <a:endParaRPr lang="en-US" sz="1300" dirty="0"/>
          </a:p>
        </p:txBody>
      </p:sp>
      <p:sp>
        <p:nvSpPr>
          <p:cNvPr id="32" name="Text 28"/>
          <p:cNvSpPr txBox="1"/>
          <p:nvPr/>
        </p:nvSpPr>
        <p:spPr>
          <a:xfrm>
            <a:off x="7223760" y="4105656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clock, no memory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Bit-by-Bit Verification in Simulation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149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</a:t>
            </a:r>
            <a:r>
              <a:rPr lang="en-US" sz="10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on Bit 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0624" y="1225296"/>
            <a:ext cx="2633472" cy="1590379"/>
          </a:xfrm>
          <a:prstGeom prst="roundRect">
            <a:avLst>
              <a:gd name="adj" fmla="val 2875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/home/claude/img/c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61872"/>
            <a:ext cx="2560320" cy="151722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246120" y="101498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 </a:t>
            </a:r>
            <a:r>
              <a:rPr lang="en-US" sz="10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on Bit 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209544" y="1225296"/>
            <a:ext cx="2633472" cy="1590379"/>
          </a:xfrm>
          <a:prstGeom prst="roundRect">
            <a:avLst>
              <a:gd name="adj" fmla="val 2875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/home/claude/img/c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6120" y="1261872"/>
            <a:ext cx="2560320" cy="151722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57200" y="2843107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 </a:t>
            </a:r>
            <a:r>
              <a:rPr lang="en-US" sz="10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on Bit 2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20624" y="3053419"/>
            <a:ext cx="2633472" cy="1590379"/>
          </a:xfrm>
          <a:prstGeom prst="roundRect">
            <a:avLst>
              <a:gd name="adj" fmla="val 2875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/home/claude/img/c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089995"/>
            <a:ext cx="2560320" cy="151722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246120" y="2843107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 </a:t>
            </a:r>
            <a:r>
              <a:rPr lang="en-US" sz="10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Comparator on Bit 3</a:t>
            </a:r>
            <a:endParaRPr lang="en-US" sz="1000" dirty="0"/>
          </a:p>
        </p:txBody>
      </p:sp>
      <p:sp>
        <p:nvSpPr>
          <p:cNvPr id="17" name="Shape 11"/>
          <p:cNvSpPr/>
          <p:nvPr/>
        </p:nvSpPr>
        <p:spPr>
          <a:xfrm>
            <a:off x="3209544" y="3053419"/>
            <a:ext cx="2633472" cy="1590379"/>
          </a:xfrm>
          <a:prstGeom prst="roundRect">
            <a:avLst>
              <a:gd name="adj" fmla="val 2875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/home/claude/img/c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120" y="3089995"/>
            <a:ext cx="2560320" cy="1517227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6172200" y="100584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verified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6172200" y="1508760"/>
            <a:ext cx="384048" cy="384048"/>
          </a:xfrm>
          <a:prstGeom prst="ellipse">
            <a:avLst/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052" y="1608612"/>
            <a:ext cx="184343" cy="184343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6675120" y="149047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bit at a time</a:t>
            </a:r>
            <a:endParaRPr lang="en-US" sz="1250" dirty="0"/>
          </a:p>
        </p:txBody>
      </p:sp>
      <p:sp>
        <p:nvSpPr>
          <p:cNvPr id="23" name="Text 15"/>
          <p:cNvSpPr txBox="1"/>
          <p:nvPr/>
        </p:nvSpPr>
        <p:spPr>
          <a:xfrm>
            <a:off x="6675120" y="1764792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comparator is wired to the plaintext and decrypted line of each bit in turn.</a:t>
            </a:r>
            <a:endParaRPr lang="en-US" sz="1050" dirty="0"/>
          </a:p>
        </p:txBody>
      </p:sp>
      <p:sp>
        <p:nvSpPr>
          <p:cNvPr id="24" name="Shape 16"/>
          <p:cNvSpPr/>
          <p:nvPr/>
        </p:nvSpPr>
        <p:spPr>
          <a:xfrm>
            <a:off x="6172200" y="2532888"/>
            <a:ext cx="384048" cy="384048"/>
          </a:xfrm>
          <a:prstGeom prst="ellipse">
            <a:avLst/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2052" y="2632740"/>
            <a:ext cx="184343" cy="184343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6675120" y="251460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 output = match</a:t>
            </a:r>
            <a:endParaRPr lang="en-US" sz="1250" dirty="0"/>
          </a:p>
        </p:txBody>
      </p:sp>
      <p:sp>
        <p:nvSpPr>
          <p:cNvPr id="27" name="Text 18"/>
          <p:cNvSpPr txBox="1"/>
          <p:nvPr/>
        </p:nvSpPr>
        <p:spPr>
          <a:xfrm>
            <a:off x="6675120" y="27889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comparator output confirms that bit survives the round trip.</a:t>
            </a:r>
            <a:endParaRPr lang="en-US" sz="1050" dirty="0"/>
          </a:p>
        </p:txBody>
      </p:sp>
      <p:sp>
        <p:nvSpPr>
          <p:cNvPr id="28" name="Shape 19"/>
          <p:cNvSpPr/>
          <p:nvPr/>
        </p:nvSpPr>
        <p:spPr>
          <a:xfrm>
            <a:off x="6172200" y="3557016"/>
            <a:ext cx="384048" cy="384048"/>
          </a:xfrm>
          <a:prstGeom prst="ellipse">
            <a:avLst/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052" y="3656868"/>
            <a:ext cx="184343" cy="184343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675120" y="3538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result</a:t>
            </a:r>
            <a:endParaRPr lang="en-US" sz="1250" dirty="0"/>
          </a:p>
        </p:txBody>
      </p:sp>
      <p:sp>
        <p:nvSpPr>
          <p:cNvPr id="31" name="Text 21"/>
          <p:cNvSpPr txBox="1"/>
          <p:nvPr/>
        </p:nvSpPr>
        <p:spPr>
          <a:xfrm>
            <a:off x="6675120" y="3813048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comparators run together in the final build (previous slide).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Truth Table &amp; Test Vector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515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1-bit encrypt / decrypt round trip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3931920" cy="219456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= P⊕K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 = C⊕K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A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A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A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1D2B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2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22A4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Yes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57200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row, D reproduces P exactly.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54880" y="1051560"/>
            <a:ext cx="3931920" cy="3520440"/>
          </a:xfrm>
          <a:prstGeom prst="roundRect">
            <a:avLst>
              <a:gd name="adj" fmla="val 2078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 txBox="1"/>
          <p:nvPr/>
        </p:nvSpPr>
        <p:spPr>
          <a:xfrm>
            <a:off x="4983480" y="1170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4-bit test vector</a:t>
            </a:r>
            <a:endParaRPr lang="en-US" sz="1300" dirty="0"/>
          </a:p>
        </p:txBody>
      </p:sp>
      <p:sp>
        <p:nvSpPr>
          <p:cNvPr id="8" name="Text 8"/>
          <p:cNvSpPr txBox="1"/>
          <p:nvPr/>
        </p:nvSpPr>
        <p:spPr>
          <a:xfrm>
            <a:off x="4983480" y="16002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Plaintext P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6446520" y="1600200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0"/>
          <p:cNvSpPr txBox="1"/>
          <p:nvPr/>
        </p:nvSpPr>
        <p:spPr>
          <a:xfrm>
            <a:off x="6446520" y="16002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6876288" y="1600200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2"/>
          <p:cNvSpPr txBox="1"/>
          <p:nvPr/>
        </p:nvSpPr>
        <p:spPr>
          <a:xfrm>
            <a:off x="6876288" y="16002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7306056" y="1600200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4"/>
          <p:cNvSpPr txBox="1"/>
          <p:nvPr/>
        </p:nvSpPr>
        <p:spPr>
          <a:xfrm>
            <a:off x="7306056" y="16002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7735824" y="1600200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6"/>
          <p:cNvSpPr txBox="1"/>
          <p:nvPr/>
        </p:nvSpPr>
        <p:spPr>
          <a:xfrm>
            <a:off x="7735824" y="16002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4983480" y="213055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</a:t>
            </a:r>
            <a:endParaRPr lang="en-US" sz="1150" dirty="0"/>
          </a:p>
        </p:txBody>
      </p:sp>
      <p:sp>
        <p:nvSpPr>
          <p:cNvPr id="22" name="Text 18"/>
          <p:cNvSpPr txBox="1"/>
          <p:nvPr/>
        </p:nvSpPr>
        <p:spPr>
          <a:xfrm>
            <a:off x="6144768" y="2130552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6446520" y="2130552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0"/>
          <p:cNvSpPr txBox="1"/>
          <p:nvPr/>
        </p:nvSpPr>
        <p:spPr>
          <a:xfrm>
            <a:off x="6446520" y="21305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5" name="Shape 21"/>
          <p:cNvSpPr/>
          <p:nvPr/>
        </p:nvSpPr>
        <p:spPr>
          <a:xfrm>
            <a:off x="6876288" y="2130552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2"/>
          <p:cNvSpPr txBox="1"/>
          <p:nvPr/>
        </p:nvSpPr>
        <p:spPr>
          <a:xfrm>
            <a:off x="6876288" y="21305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27" name="Shape 23"/>
          <p:cNvSpPr/>
          <p:nvPr/>
        </p:nvSpPr>
        <p:spPr>
          <a:xfrm>
            <a:off x="7306056" y="2130552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4"/>
          <p:cNvSpPr txBox="1"/>
          <p:nvPr/>
        </p:nvSpPr>
        <p:spPr>
          <a:xfrm>
            <a:off x="7306056" y="21305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7735824" y="2130552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6"/>
          <p:cNvSpPr txBox="1"/>
          <p:nvPr/>
        </p:nvSpPr>
        <p:spPr>
          <a:xfrm>
            <a:off x="7735824" y="21305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4983480" y="2660904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C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446520" y="2660904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29"/>
          <p:cNvSpPr txBox="1"/>
          <p:nvPr/>
        </p:nvSpPr>
        <p:spPr>
          <a:xfrm>
            <a:off x="6446520" y="26609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34" name="Shape 30"/>
          <p:cNvSpPr/>
          <p:nvPr/>
        </p:nvSpPr>
        <p:spPr>
          <a:xfrm>
            <a:off x="6876288" y="2660904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1"/>
          <p:cNvSpPr txBox="1"/>
          <p:nvPr/>
        </p:nvSpPr>
        <p:spPr>
          <a:xfrm>
            <a:off x="6876288" y="26609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36" name="Shape 32"/>
          <p:cNvSpPr/>
          <p:nvPr/>
        </p:nvSpPr>
        <p:spPr>
          <a:xfrm>
            <a:off x="7306056" y="2660904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3"/>
          <p:cNvSpPr txBox="1"/>
          <p:nvPr/>
        </p:nvSpPr>
        <p:spPr>
          <a:xfrm>
            <a:off x="7306056" y="26609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38" name="Shape 34"/>
          <p:cNvSpPr/>
          <p:nvPr/>
        </p:nvSpPr>
        <p:spPr>
          <a:xfrm>
            <a:off x="7735824" y="2660904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5"/>
          <p:cNvSpPr txBox="1"/>
          <p:nvPr/>
        </p:nvSpPr>
        <p:spPr>
          <a:xfrm>
            <a:off x="7735824" y="26609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40" name="Text 36"/>
          <p:cNvSpPr txBox="1"/>
          <p:nvPr/>
        </p:nvSpPr>
        <p:spPr>
          <a:xfrm>
            <a:off x="4983480" y="3191256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</a:t>
            </a:r>
            <a:endParaRPr lang="en-US" sz="1150" dirty="0"/>
          </a:p>
        </p:txBody>
      </p:sp>
      <p:sp>
        <p:nvSpPr>
          <p:cNvPr id="41" name="Text 37"/>
          <p:cNvSpPr txBox="1"/>
          <p:nvPr/>
        </p:nvSpPr>
        <p:spPr>
          <a:xfrm>
            <a:off x="6144768" y="3191256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  <a:endParaRPr lang="en-US" sz="1600" dirty="0"/>
          </a:p>
        </p:txBody>
      </p:sp>
      <p:sp>
        <p:nvSpPr>
          <p:cNvPr id="42" name="Shape 38"/>
          <p:cNvSpPr/>
          <p:nvPr/>
        </p:nvSpPr>
        <p:spPr>
          <a:xfrm>
            <a:off x="6446520" y="3191256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39"/>
          <p:cNvSpPr txBox="1"/>
          <p:nvPr/>
        </p:nvSpPr>
        <p:spPr>
          <a:xfrm>
            <a:off x="6446520" y="319125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44" name="Shape 40"/>
          <p:cNvSpPr/>
          <p:nvPr/>
        </p:nvSpPr>
        <p:spPr>
          <a:xfrm>
            <a:off x="6876288" y="3191256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1"/>
          <p:cNvSpPr txBox="1"/>
          <p:nvPr/>
        </p:nvSpPr>
        <p:spPr>
          <a:xfrm>
            <a:off x="6876288" y="319125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46" name="Shape 42"/>
          <p:cNvSpPr/>
          <p:nvPr/>
        </p:nvSpPr>
        <p:spPr>
          <a:xfrm>
            <a:off x="7306056" y="3191256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3"/>
          <p:cNvSpPr txBox="1"/>
          <p:nvPr/>
        </p:nvSpPr>
        <p:spPr>
          <a:xfrm>
            <a:off x="7306056" y="319125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48" name="Shape 44"/>
          <p:cNvSpPr/>
          <p:nvPr/>
        </p:nvSpPr>
        <p:spPr>
          <a:xfrm>
            <a:off x="7735824" y="3191256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5"/>
          <p:cNvSpPr txBox="1"/>
          <p:nvPr/>
        </p:nvSpPr>
        <p:spPr>
          <a:xfrm>
            <a:off x="7735824" y="319125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50" name="Text 46"/>
          <p:cNvSpPr txBox="1"/>
          <p:nvPr/>
        </p:nvSpPr>
        <p:spPr>
          <a:xfrm>
            <a:off x="4983480" y="3721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Decrypted D</a:t>
            </a:r>
            <a:endParaRPr lang="en-US" sz="1150" dirty="0"/>
          </a:p>
        </p:txBody>
      </p:sp>
      <p:sp>
        <p:nvSpPr>
          <p:cNvPr id="51" name="Shape 47"/>
          <p:cNvSpPr/>
          <p:nvPr/>
        </p:nvSpPr>
        <p:spPr>
          <a:xfrm>
            <a:off x="6446520" y="3721608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48"/>
          <p:cNvSpPr txBox="1"/>
          <p:nvPr/>
        </p:nvSpPr>
        <p:spPr>
          <a:xfrm>
            <a:off x="6446520" y="37216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53" name="Shape 49"/>
          <p:cNvSpPr/>
          <p:nvPr/>
        </p:nvSpPr>
        <p:spPr>
          <a:xfrm>
            <a:off x="6876288" y="3721608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0"/>
          <p:cNvSpPr txBox="1"/>
          <p:nvPr/>
        </p:nvSpPr>
        <p:spPr>
          <a:xfrm>
            <a:off x="6876288" y="37216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500" dirty="0"/>
          </a:p>
        </p:txBody>
      </p:sp>
      <p:sp>
        <p:nvSpPr>
          <p:cNvPr id="55" name="Shape 51"/>
          <p:cNvSpPr/>
          <p:nvPr/>
        </p:nvSpPr>
        <p:spPr>
          <a:xfrm>
            <a:off x="7306056" y="3721608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2"/>
          <p:cNvSpPr txBox="1"/>
          <p:nvPr/>
        </p:nvSpPr>
        <p:spPr>
          <a:xfrm>
            <a:off x="7306056" y="37216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57" name="Shape 53"/>
          <p:cNvSpPr/>
          <p:nvPr/>
        </p:nvSpPr>
        <p:spPr>
          <a:xfrm>
            <a:off x="7735824" y="3721608"/>
            <a:ext cx="365760" cy="38404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5DE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4"/>
          <p:cNvSpPr txBox="1"/>
          <p:nvPr/>
        </p:nvSpPr>
        <p:spPr>
          <a:xfrm>
            <a:off x="7735824" y="37216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1B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500" dirty="0"/>
          </a:p>
        </p:txBody>
      </p:sp>
      <p:sp>
        <p:nvSpPr>
          <p:cNvPr id="59" name="Shape 55"/>
          <p:cNvSpPr/>
          <p:nvPr/>
        </p:nvSpPr>
        <p:spPr>
          <a:xfrm>
            <a:off x="4983480" y="4297680"/>
            <a:ext cx="3474720" cy="164592"/>
          </a:xfrm>
          <a:prstGeom prst="roundRect">
            <a:avLst/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6"/>
          <p:cNvSpPr txBox="1"/>
          <p:nvPr/>
        </p:nvSpPr>
        <p:spPr>
          <a:xfrm>
            <a:off x="6400800" y="40690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 = P  →  MATCH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Discussion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DDCA Project  |  4-Bit XOR Encryption &amp; Decryption Unit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0E1B24"/>
          </a:solidFill>
          <a:ln w="12700">
            <a:solidFill>
              <a:srgbClr val="0E1B2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 txBox="1"/>
          <p:nvPr/>
        </p:nvSpPr>
        <p:spPr>
          <a:xfrm>
            <a:off x="64008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A45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/ 16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1920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combinations of P and K recovered perfectly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2560320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 txBox="1"/>
          <p:nvPr/>
        </p:nvSpPr>
        <p:spPr>
          <a:xfrm>
            <a:off x="274320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2743200" y="1920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gates form the complete cipher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63440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 txBox="1"/>
          <p:nvPr/>
        </p:nvSpPr>
        <p:spPr>
          <a:xfrm>
            <a:off x="484632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1920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bit-wise comparators give instant feedback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766560" y="1097280"/>
            <a:ext cx="1920240" cy="1600200"/>
          </a:xfrm>
          <a:prstGeom prst="roundRect">
            <a:avLst>
              <a:gd name="adj" fmla="val 4571"/>
            </a:avLst>
          </a:prstGeom>
          <a:solidFill>
            <a:srgbClr val="F3F6F5"/>
          </a:solidFill>
          <a:ln w="12700">
            <a:solidFill>
              <a:srgbClr val="F3F6F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 txBox="1"/>
          <p:nvPr/>
        </p:nvSpPr>
        <p:spPr>
          <a:xfrm>
            <a:off x="6949440" y="11887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1B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0" y="19202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flip-flops, clocks or memory elements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57200" y="2926080"/>
            <a:ext cx="4937760" cy="1645920"/>
          </a:xfrm>
          <a:prstGeom prst="roundRect">
            <a:avLst>
              <a:gd name="adj" fmla="val 4444"/>
            </a:avLst>
          </a:prstGeom>
          <a:solidFill>
            <a:srgbClr val="E3F4EA"/>
          </a:solidFill>
          <a:ln w="12700">
            <a:solidFill>
              <a:srgbClr val="E3F4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7"/>
          <p:cNvSpPr/>
          <p:nvPr/>
        </p:nvSpPr>
        <p:spPr>
          <a:xfrm>
            <a:off x="685800" y="3108960"/>
            <a:ext cx="402336" cy="402336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407" y="3213567"/>
            <a:ext cx="193121" cy="193121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23444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685800" y="361188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every tested combination, the decrypted output D exactly reproduced the plaintext P and the MATCH output stayed high — confirming correctness at the gate level.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5577840" y="2926080"/>
            <a:ext cx="3108960" cy="1645920"/>
          </a:xfrm>
          <a:prstGeom prst="roundRect">
            <a:avLst>
              <a:gd name="adj" fmla="val 4444"/>
            </a:avLst>
          </a:prstGeom>
          <a:solidFill>
            <a:srgbClr val="FDF1DE"/>
          </a:solidFill>
          <a:ln w="12700">
            <a:solidFill>
              <a:srgbClr val="FDF1D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1"/>
          <p:cNvSpPr/>
          <p:nvPr/>
        </p:nvSpPr>
        <p:spPr>
          <a:xfrm>
            <a:off x="5806440" y="3108960"/>
            <a:ext cx="402336" cy="402336"/>
          </a:xfrm>
          <a:prstGeom prst="ellipse">
            <a:avLst/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047" y="3213567"/>
            <a:ext cx="193121" cy="193121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355080" y="3154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E1B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5806440" y="3611880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D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educational single-round cipher, not production-grade: reusing one key across messages would be vulnerable.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466344"/>
            <a:ext cx="237744" cy="2377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97280" y="329184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0972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" y="1444752"/>
            <a:ext cx="292608" cy="292608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78" y="1520830"/>
            <a:ext cx="140452" cy="14045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96112" y="141732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simulated a complete 4-bit symmetric XOR cipher in Logisim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457200" y="1993392"/>
            <a:ext cx="292608" cy="292608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78" y="2069470"/>
            <a:ext cx="140452" cy="14045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96112" y="196596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(P ⊕ K) ⊕ K = P across all tested vectors — perfect recovery</a:t>
            </a:r>
            <a:endParaRPr lang="en-US" sz="1250" dirty="0"/>
          </a:p>
        </p:txBody>
      </p:sp>
      <p:sp>
        <p:nvSpPr>
          <p:cNvPr id="12" name="Shape 7"/>
          <p:cNvSpPr/>
          <p:nvPr/>
        </p:nvSpPr>
        <p:spPr>
          <a:xfrm>
            <a:off x="457200" y="2542032"/>
            <a:ext cx="292608" cy="292608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78" y="2618110"/>
            <a:ext cx="140452" cy="14045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96112" y="25146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comparators for real-time correctness feedback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457200" y="3090672"/>
            <a:ext cx="292608" cy="292608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78" y="3166750"/>
            <a:ext cx="140452" cy="140452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896112" y="30632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behaviour with truth tables and worked test cases</a:t>
            </a:r>
            <a:endParaRPr lang="en-US" sz="1250" dirty="0"/>
          </a:p>
        </p:txBody>
      </p:sp>
      <p:sp>
        <p:nvSpPr>
          <p:cNvPr id="18" name="Shape 11"/>
          <p:cNvSpPr/>
          <p:nvPr/>
        </p:nvSpPr>
        <p:spPr>
          <a:xfrm>
            <a:off x="457200" y="3639312"/>
            <a:ext cx="292608" cy="292608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278" y="3715390"/>
            <a:ext cx="140452" cy="140452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896112" y="36118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the design minimal: no encoders, decoders or memory</a:t>
            </a:r>
            <a:endParaRPr lang="en-US" sz="1250" dirty="0"/>
          </a:p>
        </p:txBody>
      </p:sp>
      <p:sp>
        <p:nvSpPr>
          <p:cNvPr id="21" name="Text 13"/>
          <p:cNvSpPr txBox="1"/>
          <p:nvPr/>
        </p:nvSpPr>
        <p:spPr>
          <a:xfrm>
            <a:off x="5669280" y="1097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E89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5669280" y="1417320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173240"/>
          </a:solidFill>
          <a:ln w="12700">
            <a:solidFill>
              <a:srgbClr val="173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5"/>
          <p:cNvSpPr/>
          <p:nvPr/>
        </p:nvSpPr>
        <p:spPr>
          <a:xfrm>
            <a:off x="5824728" y="1591056"/>
            <a:ext cx="420624" cy="420624"/>
          </a:xfrm>
          <a:prstGeom prst="ellipse">
            <a:avLst/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090" y="1700418"/>
            <a:ext cx="201900" cy="201900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6400800" y="1527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data path</a:t>
            </a:r>
            <a:endParaRPr lang="en-US" sz="1300" dirty="0"/>
          </a:p>
        </p:txBody>
      </p:sp>
      <p:sp>
        <p:nvSpPr>
          <p:cNvPr id="26" name="Text 17"/>
          <p:cNvSpPr txBox="1"/>
          <p:nvPr/>
        </p:nvSpPr>
        <p:spPr>
          <a:xfrm>
            <a:off x="6400800" y="18196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8- or 16-bit words</a:t>
            </a:r>
            <a:endParaRPr lang="en-US" sz="1100" dirty="0"/>
          </a:p>
        </p:txBody>
      </p:sp>
      <p:sp>
        <p:nvSpPr>
          <p:cNvPr id="27" name="Shape 18"/>
          <p:cNvSpPr/>
          <p:nvPr/>
        </p:nvSpPr>
        <p:spPr>
          <a:xfrm>
            <a:off x="5669280" y="2313432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173240"/>
          </a:solidFill>
          <a:ln w="12700">
            <a:solidFill>
              <a:srgbClr val="173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19"/>
          <p:cNvSpPr/>
          <p:nvPr/>
        </p:nvSpPr>
        <p:spPr>
          <a:xfrm>
            <a:off x="5824728" y="2487168"/>
            <a:ext cx="420624" cy="420624"/>
          </a:xfrm>
          <a:prstGeom prst="ellipse">
            <a:avLst/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34090" y="2596530"/>
            <a:ext cx="201900" cy="201900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6400800" y="2423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Pseudo-random keys</a:t>
            </a:r>
            <a:endParaRPr lang="en-US" sz="1300" dirty="0"/>
          </a:p>
        </p:txBody>
      </p:sp>
      <p:sp>
        <p:nvSpPr>
          <p:cNvPr id="31" name="Text 21"/>
          <p:cNvSpPr txBox="1"/>
          <p:nvPr/>
        </p:nvSpPr>
        <p:spPr>
          <a:xfrm>
            <a:off x="6400800" y="2715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key generator or key schedule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5669280" y="3209544"/>
            <a:ext cx="3017520" cy="777240"/>
          </a:xfrm>
          <a:prstGeom prst="roundRect">
            <a:avLst>
              <a:gd name="adj" fmla="val 9412"/>
            </a:avLst>
          </a:prstGeom>
          <a:solidFill>
            <a:srgbClr val="173240"/>
          </a:solidFill>
          <a:ln w="12700">
            <a:solidFill>
              <a:srgbClr val="17324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23"/>
          <p:cNvSpPr/>
          <p:nvPr/>
        </p:nvSpPr>
        <p:spPr>
          <a:xfrm>
            <a:off x="5824728" y="3383280"/>
            <a:ext cx="420624" cy="420624"/>
          </a:xfrm>
          <a:prstGeom prst="ellipse">
            <a:avLst/>
          </a:prstGeom>
          <a:solidFill>
            <a:srgbClr val="E89B2F"/>
          </a:solidFill>
          <a:ln w="12700">
            <a:solidFill>
              <a:srgbClr val="E89B2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4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4090" y="3492642"/>
            <a:ext cx="201900" cy="201900"/>
          </a:xfrm>
          <a:prstGeom prst="rect">
            <a:avLst/>
          </a:prstGeom>
        </p:spPr>
      </p:pic>
      <p:sp>
        <p:nvSpPr>
          <p:cNvPr id="35" name="Text 24"/>
          <p:cNvSpPr txBox="1"/>
          <p:nvPr/>
        </p:nvSpPr>
        <p:spPr>
          <a:xfrm>
            <a:off x="6400800" y="3319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block</a:t>
            </a:r>
            <a:endParaRPr lang="en-US" sz="1300" dirty="0"/>
          </a:p>
        </p:txBody>
      </p:sp>
      <p:sp>
        <p:nvSpPr>
          <p:cNvPr id="36" name="Text 25"/>
          <p:cNvSpPr txBox="1"/>
          <p:nvPr/>
        </p:nvSpPr>
        <p:spPr>
          <a:xfrm>
            <a:off x="6400800" y="3611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9C4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as a module in larger designs</a:t>
            </a:r>
            <a:endParaRPr lang="en-US" sz="1100" dirty="0"/>
          </a:p>
        </p:txBody>
      </p:sp>
      <p:sp>
        <p:nvSpPr>
          <p:cNvPr id="37" name="Text 26"/>
          <p:cNvSpPr txBox="1"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22A4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stated objectives were fulfilled — the circuit is ready for demonstration and further academic exploration.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B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0520" y="822960"/>
            <a:ext cx="822960" cy="822960"/>
          </a:xfrm>
          <a:prstGeom prst="ellipse">
            <a:avLst/>
          </a:prstGeom>
          <a:solidFill>
            <a:srgbClr val="22A45D"/>
          </a:solidFill>
          <a:ln w="12700">
            <a:solidFill>
              <a:srgbClr val="22A45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4490" y="103693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108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Shreyesh Reddy Gudi  ·  Kaustubha Srinivas Kaseebhotla  ·  Rachuri Harshita  ·  Rudrakashala Harshitha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0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</a:t>
            </a:r>
            <a:r>
              <a:rPr lang="en-IN" sz="1050" dirty="0">
                <a:solidFill>
                  <a:schemeClr val="bg2"/>
                </a:solidFill>
              </a:rPr>
              <a:t>Lakshmi Karthek Vankamamidi</a:t>
            </a:r>
            <a:r>
              <a:rPr lang="en-US" sz="500" dirty="0">
                <a:solidFill>
                  <a:schemeClr val="bg2"/>
                </a:solidFill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Computer Science and Engineering, KL University, Hyderabad</a:t>
            </a:r>
            <a:endParaRPr lang="en-US" sz="1050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1328</Words>
  <Application>Microsoft Office PowerPoint</Application>
  <PresentationFormat>On-screen Show (16:9)</PresentationFormat>
  <Paragraphs>286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4-Bit XOR-Based Encryption &amp; Decryption Unit</dc:title>
  <dc:subject>PptxGenJS Presentation</dc:subject>
  <dc:creator>PptxGenJS</dc:creator>
  <cp:lastModifiedBy>shreyesh gudi</cp:lastModifiedBy>
  <cp:revision>2</cp:revision>
  <dcterms:created xsi:type="dcterms:W3CDTF">2026-09-19T07:23:42Z</dcterms:created>
  <dcterms:modified xsi:type="dcterms:W3CDTF">2026-09-19T08:21:14Z</dcterms:modified>
</cp:coreProperties>
</file>